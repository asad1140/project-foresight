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excited to present Project FORESIGHT, a decision-intelligence system designed for NorthBay Living. DTC retail brands operate in a high-velocity environment where supply chain precision determines profitability. Project FORESIGHT replaces traditional intuition-based inventory planning with a production-ready machine learning pipeline that forecasts weekly demand and mitigates inventory risks before they impact the bottom 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 many growing retail brands, NorthBay Living faced two major inventory challenges. First, popular products frequently went out of stock, leading to lost sales and disappointed customers. Second, slow-moving items locked up capital in warehouses. Without an automated, data-driven system, supply chain managers had to rely on intuition and spreadsheets, which failed to scale as the catalog grew.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these challenges, we established four clear goals. First, build a weekly forecasting model with a 6-week horizon. Second, score each SKU on stockout and overstock risk factors. Third, group SKUs into four actionable quadrants—Healthy, Reorder, Markdown, or Watch—so operators know exactly what actions to take. Finally, translate these risks into concrete financial impacts in Rupees, helping leadership prioritize their focus.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machine learning model is only as good as the data it trains on. Our pipeline integrates four datasets, aligning daily transactions with calendar events and SKU metadata. The automated cleaning module handles deduplication, type checks, and referential integrity. Crucially, we enforce a revenue consistency check and apply a 3x IQR outlier capping mechanism to sales spikes, ensuring that abnormal sales promotions don't distort our baseline demand forecast.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help our model capture complex demand patterns, we engineered 15 features on a daily level. These include historical lags and rolling window statistics to capture momentum, along with calendar features. Crucially, rolling features are computed on lagged data (shifted by 1 day) to avoid look-ahead leakage. By aggregating these features weekly, our daily lags map to weekly lags, capturing historical demand curves.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core of Project FORESIGHT is a Random Forest Regressor trained on weekly aggregated SKU demand. To evaluate performance, we used a 5-fold TimeSeriesSplit, ensuring that the model is only tested on future data. Our 6-week forecast runs recursively, meaning predictions are fed back as inputs for subsequent steps. To communicate uncertainty to operators, we scale the training residuals by the square root of the step, providing a realistic 80% confidence interval.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our Random Forest model against a Seasonal-Naive baseline, which simply projects sales from the same week in the previous year. On our backtest period, the ML model achieved a WAPE of 9.86%, outperforming the baseline by 13.60%. By halving the error magnitude and keeping forecast bias near zero, the model provides highly accurate, balanced demand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wrapped this pipeline in an interactive Streamlit dashboard. The Executive Board plots every SKU on a risk matrix, where bubble size reflects the financial value at stake. Prioritized action tables show operators exactly what to reorder or markdown. A deep dive tab displays historical sales alongside forecasts and confidence bands, helping planners inspect individual products. We also optimized the database loader to load pre-cleaned files directly, ensuring the dashboard loads instantly.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FORESIGHT delivers measurable business value. By flagging stockout risks early, it helps secure bestseller revenue. By identifying overstocked inventory, it helps release working capital through targeted promotions. Finally, it streamlines the inventory planning workflow, shifting planners from manual data entry to strategic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current system is highly effective, we have identified a roadmap for future expansion. We plan to improve handling for new products without sales history, integrate logistics APIs for dynamic lead times, and allow planners to input planned promo schedules directly. We also plan to evaluate deep learning sequence models like Temporal Fusion Transformers to better handle sparse demand. Thank you for your time, and I am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828800"/>
            <a:ext cx="10360152" cy="2743200"/>
          </a:xfrm>
          <a:prstGeom prst="rect">
            <a:avLst/>
          </a:prstGeom>
          <a:noFill/>
        </p:spPr>
        <p:txBody>
          <a:bodyPr wrap="square">
            <a:spAutoFit/>
          </a:bodyPr>
          <a:lstStyle/>
          <a:p>
            <a:pPr>
              <a:spcAft>
                <a:spcPts val="2000"/>
              </a:spcAft>
              <a:defRPr sz="4600" b="1">
                <a:solidFill>
                  <a:srgbClr val="818CF8"/>
                </a:solidFill>
                <a:latin typeface="Outfit"/>
              </a:defRPr>
            </a:pPr>
            <a:r>
              <a:t>Project FORESIGHT</a:t>
            </a:r>
            <a:br/>
            <a:r>
              <a:t>Demand &amp; Inventory Intelligence</a:t>
            </a:r>
          </a:p>
          <a:p>
            <a:pPr>
              <a:spcAft>
                <a:spcPts val="4000"/>
              </a:spcAft>
              <a:defRPr sz="2000">
                <a:solidFill>
                  <a:srgbClr val="94A3B8"/>
                </a:solidFill>
                <a:latin typeface="Outfit"/>
              </a:defRPr>
            </a:pPr>
            <a:r>
              <a:t>Machine Learning Forecasting &amp; Early-Warning Risk Management for DTC Retail</a:t>
            </a:r>
          </a:p>
          <a:p>
            <a:pPr>
              <a:defRPr sz="1400">
                <a:solidFill>
                  <a:srgbClr val="FBBF24"/>
                </a:solidFill>
                <a:latin typeface="Outfit"/>
              </a:defRPr>
            </a:pPr>
            <a:r>
              <a:t>Developed for: NorthBay Living Analytics  |  Zidio Development Analytics Cohort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The Cost of Inventory Mismanagement</a:t>
            </a:r>
          </a:p>
        </p:txBody>
      </p:sp>
      <p:sp>
        <p:nvSpPr>
          <p:cNvPr id="3" name="TextBox 2"/>
          <p:cNvSpPr txBox="1"/>
          <p:nvPr/>
        </p:nvSpPr>
        <p:spPr>
          <a:xfrm>
            <a:off x="685800" y="1645920"/>
            <a:ext cx="5120640" cy="4114800"/>
          </a:xfrm>
          <a:prstGeom prst="rect">
            <a:avLst/>
          </a:prstGeom>
          <a:noFill/>
        </p:spPr>
        <p:txBody>
          <a:bodyPr wrap="square">
            <a:spAutoFit/>
          </a:bodyPr>
          <a:lstStyle/>
          <a:p>
            <a:pPr>
              <a:spcAft>
                <a:spcPts val="1200"/>
              </a:spcAft>
              <a:defRPr sz="2000" b="1">
                <a:solidFill>
                  <a:srgbClr val="F87171"/>
                </a:solidFill>
                <a:latin typeface="Outfit"/>
              </a:defRPr>
            </a:pPr>
            <a:r>
              <a:t>The Stockout Dilemma</a:t>
            </a:r>
          </a:p>
          <a:p>
            <a:pPr>
              <a:spcAft>
                <a:spcPts val="1000"/>
              </a:spcAft>
              <a:defRPr sz="1500">
                <a:solidFill>
                  <a:srgbClr val="F1F5F9"/>
                </a:solidFill>
                <a:latin typeface="Outfit"/>
              </a:defRPr>
            </a:pPr>
            <a:r>
              <a:t>• Bestsellers frequently run out of stock during unexpected demand spikes.</a:t>
            </a:r>
          </a:p>
          <a:p>
            <a:pPr>
              <a:spcAft>
                <a:spcPts val="1000"/>
              </a:spcAft>
              <a:defRPr sz="1500">
                <a:solidFill>
                  <a:srgbClr val="F1F5F9"/>
                </a:solidFill>
                <a:latin typeface="Outfit"/>
              </a:defRPr>
            </a:pPr>
            <a:r>
              <a:t>• Leads directly to lost sales, unrecoverable revenue, and frustrated customers.</a:t>
            </a:r>
          </a:p>
          <a:p>
            <a:pPr>
              <a:spcAft>
                <a:spcPts val="1000"/>
              </a:spcAft>
              <a:defRPr sz="1500">
                <a:solidFill>
                  <a:srgbClr val="F1F5F9"/>
                </a:solidFill>
                <a:latin typeface="Outfit"/>
              </a:defRPr>
            </a:pPr>
            <a:r>
              <a:t>• Spreadsheet-based models fail to capture weekly and festive demand patterns.</a:t>
            </a:r>
          </a:p>
        </p:txBody>
      </p:sp>
      <p:sp>
        <p:nvSpPr>
          <p:cNvPr id="4" name="TextBox 3"/>
          <p:cNvSpPr txBox="1"/>
          <p:nvPr/>
        </p:nvSpPr>
        <p:spPr>
          <a:xfrm>
            <a:off x="6382512" y="1645920"/>
            <a:ext cx="5120640" cy="4114800"/>
          </a:xfrm>
          <a:prstGeom prst="rect">
            <a:avLst/>
          </a:prstGeom>
          <a:noFill/>
        </p:spPr>
        <p:txBody>
          <a:bodyPr wrap="square">
            <a:spAutoFit/>
          </a:bodyPr>
          <a:lstStyle/>
          <a:p>
            <a:pPr>
              <a:spcAft>
                <a:spcPts val="1200"/>
              </a:spcAft>
              <a:defRPr sz="2000" b="1">
                <a:solidFill>
                  <a:srgbClr val="FBBF24"/>
                </a:solidFill>
                <a:latin typeface="Outfit"/>
              </a:defRPr>
            </a:pPr>
            <a:r>
              <a:t>The Overstock Burden</a:t>
            </a:r>
          </a:p>
          <a:p>
            <a:pPr>
              <a:spcAft>
                <a:spcPts val="1000"/>
              </a:spcAft>
              <a:defRPr sz="1500">
                <a:solidFill>
                  <a:srgbClr val="F1F5F9"/>
                </a:solidFill>
                <a:latin typeface="Outfit"/>
              </a:defRPr>
            </a:pPr>
            <a:r>
              <a:t>• Slow-moving items pile up, locking working capital in warehouse storage.</a:t>
            </a:r>
          </a:p>
          <a:p>
            <a:pPr>
              <a:spcAft>
                <a:spcPts val="1000"/>
              </a:spcAft>
              <a:defRPr sz="1500">
                <a:solidFill>
                  <a:srgbClr val="F1F5F9"/>
                </a:solidFill>
                <a:latin typeface="Outfit"/>
              </a:defRPr>
            </a:pPr>
            <a:r>
              <a:t>• Increases holding fees and forces heavy margin-eroding discount clearances.</a:t>
            </a:r>
          </a:p>
          <a:p>
            <a:pPr>
              <a:spcAft>
                <a:spcPts val="1000"/>
              </a:spcAft>
              <a:defRPr sz="1500">
                <a:solidFill>
                  <a:srgbClr val="F1F5F9"/>
                </a:solidFill>
                <a:latin typeface="Outfit"/>
              </a:defRPr>
            </a:pPr>
            <a:r>
              <a:t>• No structured mechanism to flag excess inventory and recommend markdowns.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Objectives &amp; Key Deliverables</a:t>
            </a:r>
          </a:p>
        </p:txBody>
      </p:sp>
      <p:sp>
        <p:nvSpPr>
          <p:cNvPr id="3" name="TextBox 2"/>
          <p:cNvSpPr txBox="1"/>
          <p:nvPr/>
        </p:nvSpPr>
        <p:spPr>
          <a:xfrm>
            <a:off x="685800" y="1645920"/>
            <a:ext cx="5120640" cy="2011680"/>
          </a:xfrm>
          <a:prstGeom prst="rect">
            <a:avLst/>
          </a:prstGeom>
          <a:noFill/>
        </p:spPr>
        <p:txBody>
          <a:bodyPr wrap="square">
            <a:spAutoFit/>
          </a:bodyPr>
          <a:lstStyle/>
          <a:p>
            <a:pPr>
              <a:spcAft>
                <a:spcPts val="800"/>
              </a:spcAft>
              <a:defRPr sz="1800" b="1">
                <a:solidFill>
                  <a:srgbClr val="818CF8"/>
                </a:solidFill>
                <a:latin typeface="Outfit"/>
              </a:defRPr>
            </a:pPr>
            <a:r>
              <a:t>01 / Demand Forecasting</a:t>
            </a:r>
          </a:p>
          <a:p>
            <a:pPr>
              <a:lnSpc>
                <a:spcPct val="115000"/>
              </a:lnSpc>
              <a:defRPr sz="1400">
                <a:solidFill>
                  <a:srgbClr val="F1F5F9"/>
                </a:solidFill>
                <a:latin typeface="Outfit"/>
              </a:defRPr>
            </a:pPr>
            <a:r>
              <a:t>Weekly SKU-level forecasts over a 6-week forward-looking horizon to replace baseline naive models.</a:t>
            </a:r>
          </a:p>
        </p:txBody>
      </p:sp>
      <p:sp>
        <p:nvSpPr>
          <p:cNvPr id="4" name="TextBox 3"/>
          <p:cNvSpPr txBox="1"/>
          <p:nvPr/>
        </p:nvSpPr>
        <p:spPr>
          <a:xfrm>
            <a:off x="6382512" y="1645920"/>
            <a:ext cx="5120640" cy="2011680"/>
          </a:xfrm>
          <a:prstGeom prst="rect">
            <a:avLst/>
          </a:prstGeom>
          <a:noFill/>
        </p:spPr>
        <p:txBody>
          <a:bodyPr wrap="square">
            <a:spAutoFit/>
          </a:bodyPr>
          <a:lstStyle/>
          <a:p>
            <a:pPr>
              <a:spcAft>
                <a:spcPts val="800"/>
              </a:spcAft>
              <a:defRPr sz="1800" b="1">
                <a:solidFill>
                  <a:srgbClr val="34D399"/>
                </a:solidFill>
                <a:latin typeface="Outfit"/>
              </a:defRPr>
            </a:pPr>
            <a:r>
              <a:t>02 / Multi-Factor Risk Engine</a:t>
            </a:r>
          </a:p>
          <a:p>
            <a:pPr>
              <a:lnSpc>
                <a:spcPct val="115000"/>
              </a:lnSpc>
              <a:defRPr sz="1400">
                <a:solidFill>
                  <a:srgbClr val="F1F5F9"/>
                </a:solidFill>
                <a:latin typeface="Outfit"/>
              </a:defRPr>
            </a:pPr>
            <a:r>
              <a:t>Automated stockout and overstock risk scoring using current inventory position and forecast velocities.</a:t>
            </a:r>
          </a:p>
        </p:txBody>
      </p:sp>
      <p:sp>
        <p:nvSpPr>
          <p:cNvPr id="5" name="TextBox 4"/>
          <p:cNvSpPr txBox="1"/>
          <p:nvPr/>
        </p:nvSpPr>
        <p:spPr>
          <a:xfrm>
            <a:off x="685800" y="4114800"/>
            <a:ext cx="5120640" cy="2011680"/>
          </a:xfrm>
          <a:prstGeom prst="rect">
            <a:avLst/>
          </a:prstGeom>
          <a:noFill/>
        </p:spPr>
        <p:txBody>
          <a:bodyPr wrap="square">
            <a:spAutoFit/>
          </a:bodyPr>
          <a:lstStyle/>
          <a:p>
            <a:pPr>
              <a:spcAft>
                <a:spcPts val="800"/>
              </a:spcAft>
              <a:defRPr sz="1800" b="1">
                <a:solidFill>
                  <a:srgbClr val="FBBF24"/>
                </a:solidFill>
                <a:latin typeface="Outfit"/>
              </a:defRPr>
            </a:pPr>
            <a:r>
              <a:t>03 / Actionable Decisions</a:t>
            </a:r>
          </a:p>
          <a:p>
            <a:pPr>
              <a:lnSpc>
                <a:spcPct val="115000"/>
              </a:lnSpc>
              <a:defRPr sz="1400">
                <a:solidFill>
                  <a:srgbClr val="F1F5F9"/>
                </a:solidFill>
                <a:latin typeface="Outfit"/>
              </a:defRPr>
            </a:pPr>
            <a:r>
              <a:t>Categorization of SKUs into clear, prioritised action plans: Reorder Now, Markdown / Clear, Healthy, or Watch.</a:t>
            </a:r>
          </a:p>
        </p:txBody>
      </p:sp>
      <p:sp>
        <p:nvSpPr>
          <p:cNvPr id="6" name="TextBox 5"/>
          <p:cNvSpPr txBox="1"/>
          <p:nvPr/>
        </p:nvSpPr>
        <p:spPr>
          <a:xfrm>
            <a:off x="6382512" y="4114800"/>
            <a:ext cx="5120640" cy="2011680"/>
          </a:xfrm>
          <a:prstGeom prst="rect">
            <a:avLst/>
          </a:prstGeom>
          <a:noFill/>
        </p:spPr>
        <p:txBody>
          <a:bodyPr wrap="square">
            <a:spAutoFit/>
          </a:bodyPr>
          <a:lstStyle/>
          <a:p>
            <a:pPr>
              <a:spcAft>
                <a:spcPts val="800"/>
              </a:spcAft>
              <a:defRPr sz="1800" b="1">
                <a:solidFill>
                  <a:srgbClr val="F87171"/>
                </a:solidFill>
                <a:latin typeface="Outfit"/>
              </a:defRPr>
            </a:pPr>
            <a:r>
              <a:t>04 / Financial Quantification</a:t>
            </a:r>
          </a:p>
          <a:p>
            <a:pPr>
              <a:lnSpc>
                <a:spcPct val="115000"/>
              </a:lnSpc>
              <a:defRPr sz="1400">
                <a:solidFill>
                  <a:srgbClr val="F1F5F9"/>
                </a:solidFill>
                <a:latin typeface="Outfit"/>
              </a:defRPr>
            </a:pPr>
            <a:r>
              <a:t>Calculation of exact Rupees at stake (sales at risk and locked capital) to help leadership prioritize logistics spend.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Establishing a Single Source of Truth</a:t>
            </a:r>
          </a:p>
        </p:txBody>
      </p:sp>
      <p:sp>
        <p:nvSpPr>
          <p:cNvPr id="3" name="TextBox 2"/>
          <p:cNvSpPr txBox="1"/>
          <p:nvPr/>
        </p:nvSpPr>
        <p:spPr>
          <a:xfrm>
            <a:off x="685800" y="1645920"/>
            <a:ext cx="10817352" cy="4389120"/>
          </a:xfrm>
          <a:prstGeom prst="rect">
            <a:avLst/>
          </a:prstGeom>
          <a:noFill/>
        </p:spPr>
        <p:txBody>
          <a:bodyPr wrap="square">
            <a:spAutoFit/>
          </a:bodyPr>
          <a:lstStyle/>
          <a:p>
            <a:pPr>
              <a:spcAft>
                <a:spcPts val="1600"/>
              </a:spcAft>
              <a:defRPr sz="1600" b="1">
                <a:solidFill>
                  <a:srgbClr val="818CF8"/>
                </a:solidFill>
                <a:latin typeface="Outfit"/>
              </a:defRPr>
            </a:pPr>
            <a:r>
              <a:t>Data Unification: </a:t>
            </a:r>
            <a:r>
              <a:rPr sz="1500">
                <a:solidFill>
                  <a:srgbClr val="F1F5F9"/>
                </a:solidFill>
                <a:latin typeface="Outfit"/>
              </a:rPr>
              <a:t>Merged raw transaction histories, SKU parameters, inventory levels, and calendar events into an analysis-ready grain.</a:t>
            </a:r>
          </a:p>
          <a:p>
            <a:pPr>
              <a:spcAft>
                <a:spcPts val="1600"/>
              </a:spcAft>
              <a:defRPr sz="1600" b="1">
                <a:solidFill>
                  <a:srgbClr val="818CF8"/>
                </a:solidFill>
                <a:latin typeface="Outfit"/>
              </a:defRPr>
            </a:pPr>
            <a:r>
              <a:t>Automated Quality Audits: </a:t>
            </a:r>
            <a:r>
              <a:rPr sz="1500">
                <a:solidFill>
                  <a:srgbClr val="F1F5F9"/>
                </a:solidFill>
                <a:latin typeface="Outfit"/>
              </a:rPr>
              <a:t>Implemented code-level checks to remove duplicates (0.2% found in sales) and clean category casing anomalies in the SKU master.</a:t>
            </a:r>
          </a:p>
          <a:p>
            <a:pPr>
              <a:spcAft>
                <a:spcPts val="1600"/>
              </a:spcAft>
              <a:defRPr sz="1600" b="1">
                <a:solidFill>
                  <a:srgbClr val="818CF8"/>
                </a:solidFill>
                <a:latin typeface="Outfit"/>
              </a:defRPr>
            </a:pPr>
            <a:r>
              <a:t>Revenue Consistency Check: </a:t>
            </a:r>
            <a:r>
              <a:rPr sz="1500">
                <a:solidFill>
                  <a:srgbClr val="F1F5F9"/>
                </a:solidFill>
                <a:latin typeface="Outfit"/>
              </a:rPr>
              <a:t>Enforced strict referential checks to recalculate and correct transactional revenue mismatches.</a:t>
            </a:r>
          </a:p>
          <a:p>
            <a:pPr>
              <a:spcAft>
                <a:spcPts val="1600"/>
              </a:spcAft>
              <a:defRPr sz="1600" b="1">
                <a:solidFill>
                  <a:srgbClr val="818CF8"/>
                </a:solidFill>
                <a:latin typeface="Outfit"/>
              </a:defRPr>
            </a:pPr>
            <a:r>
              <a:t>IQR Outlier Capping: </a:t>
            </a:r>
            <a:r>
              <a:rPr sz="1500">
                <a:solidFill>
                  <a:srgbClr val="F1F5F9"/>
                </a:solidFill>
                <a:latin typeface="Outfit"/>
              </a:rPr>
              <a:t>Capped extreme promotional spikes at 3x IQR to prevent demand model overfitting while retaining legitimate seasonality.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Extracting Time-Series Signals</a:t>
            </a:r>
          </a:p>
        </p:txBody>
      </p:sp>
      <p:sp>
        <p:nvSpPr>
          <p:cNvPr id="3" name="TextBox 2"/>
          <p:cNvSpPr txBox="1"/>
          <p:nvPr/>
        </p:nvSpPr>
        <p:spPr>
          <a:xfrm>
            <a:off x="685800" y="1645920"/>
            <a:ext cx="5120640" cy="4389120"/>
          </a:xfrm>
          <a:prstGeom prst="rect">
            <a:avLst/>
          </a:prstGeom>
          <a:noFill/>
        </p:spPr>
        <p:txBody>
          <a:bodyPr wrap="square">
            <a:spAutoFit/>
          </a:bodyPr>
          <a:lstStyle/>
          <a:p>
            <a:pPr>
              <a:spcAft>
                <a:spcPts val="1200"/>
              </a:spcAft>
              <a:defRPr sz="2000" b="1">
                <a:solidFill>
                  <a:srgbClr val="818CF8"/>
                </a:solidFill>
                <a:latin typeface="Outfit"/>
              </a:defRPr>
            </a:pPr>
            <a:r>
              <a:t>Historical Signals &amp; Rolling Statistics</a:t>
            </a:r>
          </a:p>
          <a:p>
            <a:pPr>
              <a:spcAft>
                <a:spcPts val="1200"/>
              </a:spcAft>
              <a:defRPr sz="1400">
                <a:solidFill>
                  <a:srgbClr val="F1F5F9"/>
                </a:solidFill>
                <a:latin typeface="Outfit"/>
              </a:defRPr>
            </a:pPr>
            <a:r>
              <a:t>• Historical Lags: Created lags for 1, 7, 14, and 28 days to capture immediate momentum and weekly/monthly seasonality.</a:t>
            </a:r>
          </a:p>
          <a:p>
            <a:pPr>
              <a:spcAft>
                <a:spcPts val="1200"/>
              </a:spcAft>
              <a:defRPr sz="1400">
                <a:solidFill>
                  <a:srgbClr val="F1F5F9"/>
                </a:solidFill>
                <a:latin typeface="Outfit"/>
              </a:defRPr>
            </a:pPr>
            <a:r>
              <a:t>• Rolling Features: Calculated rolling mean, std, min, and max over a 7-day window to capture demand trends.</a:t>
            </a:r>
          </a:p>
          <a:p>
            <a:pPr>
              <a:spcAft>
                <a:spcPts val="1200"/>
              </a:spcAft>
              <a:defRPr sz="1400">
                <a:solidFill>
                  <a:srgbClr val="F1F5F9"/>
                </a:solidFill>
                <a:latin typeface="Outfit"/>
              </a:defRPr>
            </a:pPr>
            <a:r>
              <a:t>• Leakage Prevention: Shifted all rolling calculations by 1 day to ensure future information never enters the training set.</a:t>
            </a:r>
          </a:p>
        </p:txBody>
      </p:sp>
      <p:sp>
        <p:nvSpPr>
          <p:cNvPr id="4" name="TextBox 3"/>
          <p:cNvSpPr txBox="1"/>
          <p:nvPr/>
        </p:nvSpPr>
        <p:spPr>
          <a:xfrm>
            <a:off x="6382512" y="1645920"/>
            <a:ext cx="5120640" cy="4389120"/>
          </a:xfrm>
          <a:prstGeom prst="rect">
            <a:avLst/>
          </a:prstGeom>
          <a:noFill/>
        </p:spPr>
        <p:txBody>
          <a:bodyPr wrap="square">
            <a:spAutoFit/>
          </a:bodyPr>
          <a:lstStyle/>
          <a:p>
            <a:pPr>
              <a:spcAft>
                <a:spcPts val="1200"/>
              </a:spcAft>
              <a:defRPr sz="2000" b="1">
                <a:solidFill>
                  <a:srgbClr val="FBBF24"/>
                </a:solidFill>
                <a:latin typeface="Outfit"/>
              </a:defRPr>
            </a:pPr>
            <a:r>
              <a:t>Contextual &amp; Seasonal Indicators</a:t>
            </a:r>
          </a:p>
          <a:p>
            <a:pPr>
              <a:spcAft>
                <a:spcPts val="1200"/>
              </a:spcAft>
              <a:defRPr sz="1400">
                <a:solidFill>
                  <a:srgbClr val="F1F5F9"/>
                </a:solidFill>
                <a:latin typeface="Outfit"/>
              </a:defRPr>
            </a:pPr>
            <a:r>
              <a:t>• Calendar Dimensions: Extracted day of week, week number, month, and quarter to map seasonal trends.</a:t>
            </a:r>
          </a:p>
          <a:p>
            <a:pPr>
              <a:spcAft>
                <a:spcPts val="1200"/>
              </a:spcAft>
              <a:defRPr sz="1400">
                <a:solidFill>
                  <a:srgbClr val="F1F5F9"/>
                </a:solidFill>
                <a:latin typeface="Outfit"/>
              </a:defRPr>
            </a:pPr>
            <a:r>
              <a:t>• Promotion Flags: Structured binary flags (0/1) for marketing campaigns and spot discount events.</a:t>
            </a:r>
          </a:p>
          <a:p>
            <a:pPr>
              <a:spcAft>
                <a:spcPts val="1200"/>
              </a:spcAft>
              <a:defRPr sz="1400">
                <a:solidFill>
                  <a:srgbClr val="F1F5F9"/>
                </a:solidFill>
                <a:latin typeface="Outfit"/>
              </a:defRPr>
            </a:pPr>
            <a:r>
              <a:t>• Holiday Timeline: Built national holiday indicators to anticipate massive spikes (e.g. Diwali, Holi, Christmas).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Recursive Multi-Step Random Forest</a:t>
            </a:r>
          </a:p>
        </p:txBody>
      </p:sp>
      <p:sp>
        <p:nvSpPr>
          <p:cNvPr id="3" name="TextBox 2"/>
          <p:cNvSpPr txBox="1"/>
          <p:nvPr/>
        </p:nvSpPr>
        <p:spPr>
          <a:xfrm>
            <a:off x="685800" y="1645920"/>
            <a:ext cx="10817352" cy="4389120"/>
          </a:xfrm>
          <a:prstGeom prst="rect">
            <a:avLst/>
          </a:prstGeom>
          <a:noFill/>
        </p:spPr>
        <p:txBody>
          <a:bodyPr wrap="square">
            <a:spAutoFit/>
          </a:bodyPr>
          <a:lstStyle/>
          <a:p>
            <a:pPr>
              <a:spcAft>
                <a:spcPts val="1600"/>
              </a:spcAft>
              <a:defRPr sz="1600" b="1">
                <a:solidFill>
                  <a:srgbClr val="818CF8"/>
                </a:solidFill>
                <a:latin typeface="Outfit"/>
              </a:defRPr>
            </a:pPr>
            <a:r>
              <a:t>The Model: </a:t>
            </a:r>
            <a:r>
              <a:rPr sz="1500">
                <a:solidFill>
                  <a:srgbClr val="F1F5F9"/>
                </a:solidFill>
                <a:latin typeface="Outfit"/>
              </a:rPr>
              <a:t>Random Forest Regressor (100 estimators) trained on weekly aggregated historical sales data for SKU-level demand.</a:t>
            </a:r>
          </a:p>
          <a:p>
            <a:pPr>
              <a:spcAft>
                <a:spcPts val="1600"/>
              </a:spcAft>
              <a:defRPr sz="1600" b="1">
                <a:solidFill>
                  <a:srgbClr val="818CF8"/>
                </a:solidFill>
                <a:latin typeface="Outfit"/>
              </a:defRPr>
            </a:pPr>
            <a:r>
              <a:t>Backtesting Protocol: </a:t>
            </a:r>
            <a:r>
              <a:rPr sz="1500">
                <a:solidFill>
                  <a:srgbClr val="F1F5F9"/>
                </a:solidFill>
                <a:latin typeface="Outfit"/>
              </a:rPr>
              <a:t>Implemented a 5-fold TimeSeriesSplit chronological cross-validation to ensure models are tested under realistic out-of-sample conditions.</a:t>
            </a:r>
          </a:p>
          <a:p>
            <a:pPr>
              <a:spcAft>
                <a:spcPts val="1600"/>
              </a:spcAft>
              <a:defRPr sz="1600" b="1">
                <a:solidFill>
                  <a:srgbClr val="818CF8"/>
                </a:solidFill>
                <a:latin typeface="Outfit"/>
              </a:defRPr>
            </a:pPr>
            <a:r>
              <a:t>Recursive Strategy: </a:t>
            </a:r>
            <a:r>
              <a:rPr sz="1500">
                <a:solidFill>
                  <a:srgbClr val="F1F5F9"/>
                </a:solidFill>
                <a:latin typeface="Outfit"/>
              </a:rPr>
              <a:t>Generated predictions recursively. The forecast at step t+1 is fed back into the lagging pipeline to predict demand at step t+2.</a:t>
            </a:r>
          </a:p>
          <a:p>
            <a:pPr>
              <a:spcAft>
                <a:spcPts val="1600"/>
              </a:spcAft>
              <a:defRPr sz="1600" b="1">
                <a:solidFill>
                  <a:srgbClr val="818CF8"/>
                </a:solidFill>
                <a:latin typeface="Outfit"/>
              </a:defRPr>
            </a:pPr>
            <a:r>
              <a:t>Uncertainty Intervals: </a:t>
            </a:r>
            <a:r>
              <a:rPr sz="1500">
                <a:solidFill>
                  <a:srgbClr val="F1F5F9"/>
                </a:solidFill>
                <a:latin typeface="Outfit"/>
              </a:rPr>
              <a:t>residuals standard error scaled by square root of forecast step, providing a robust, widening 80% confidence interval over the 6-week horizon.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Outperforming the Seasonal-Naive Baseline</a:t>
            </a:r>
          </a:p>
        </p:txBody>
      </p:sp>
      <p:sp>
        <p:nvSpPr>
          <p:cNvPr id="3" name="TextBox 2"/>
          <p:cNvSpPr txBox="1"/>
          <p:nvPr/>
        </p:nvSpPr>
        <p:spPr>
          <a:xfrm>
            <a:off x="685800" y="1645920"/>
            <a:ext cx="5486400" cy="4114800"/>
          </a:xfrm>
          <a:prstGeom prst="rect">
            <a:avLst/>
          </a:prstGeom>
          <a:noFill/>
        </p:spPr>
        <p:txBody>
          <a:bodyPr wrap="square">
            <a:spAutoFit/>
          </a:bodyPr>
          <a:lstStyle/>
          <a:p>
            <a:pPr>
              <a:spcAft>
                <a:spcPts val="1200"/>
              </a:spcAft>
              <a:defRPr sz="2000" b="1">
                <a:solidFill>
                  <a:srgbClr val="34D399"/>
                </a:solidFill>
                <a:latin typeface="Outfit"/>
              </a:defRPr>
            </a:pPr>
            <a:r>
              <a:t>Model Performance Breakdown</a:t>
            </a:r>
          </a:p>
          <a:p>
            <a:pPr>
              <a:spcAft>
                <a:spcPts val="1200"/>
              </a:spcAft>
              <a:defRPr sz="1400">
                <a:solidFill>
                  <a:srgbClr val="F1F5F9"/>
                </a:solidFill>
                <a:latin typeface="Outfit"/>
              </a:defRPr>
            </a:pPr>
            <a:r>
              <a:t>• Forecast WAPE: Random Forest model achieved 9.86% WAPE compared to 23.46% for the Seasonal-Naive baseline (+13.60% absolute improvement).</a:t>
            </a:r>
          </a:p>
          <a:p>
            <a:pPr>
              <a:spcAft>
                <a:spcPts val="1200"/>
              </a:spcAft>
              <a:defRPr sz="1400">
                <a:solidFill>
                  <a:srgbClr val="F1F5F9"/>
                </a:solidFill>
                <a:latin typeface="Outfit"/>
              </a:defRPr>
            </a:pPr>
            <a:r>
              <a:t>• Error Reduction: Halved the Mean Absolute Error (MAE) and Root Mean Squared Error (RMSE) metrics across all SKU categories.</a:t>
            </a:r>
          </a:p>
          <a:p>
            <a:pPr>
              <a:spcAft>
                <a:spcPts val="1200"/>
              </a:spcAft>
              <a:defRPr sz="1400">
                <a:solidFill>
                  <a:srgbClr val="F1F5F9"/>
                </a:solidFill>
                <a:latin typeface="Outfit"/>
              </a:defRPr>
            </a:pPr>
            <a:r>
              <a:t>• Unbiased Forecasts: Model bias is near-zero (+0.33%), indicating no systematic over-forecasting or under-forecasting.</a:t>
            </a:r>
          </a:p>
        </p:txBody>
      </p:sp>
      <p:sp>
        <p:nvSpPr>
          <p:cNvPr id="4" name="TextBox 3"/>
          <p:cNvSpPr txBox="1"/>
          <p:nvPr/>
        </p:nvSpPr>
        <p:spPr>
          <a:xfrm>
            <a:off x="6675120" y="1645920"/>
            <a:ext cx="4754880" cy="4114800"/>
          </a:xfrm>
          <a:prstGeom prst="rect">
            <a:avLst/>
          </a:prstGeom>
          <a:noFill/>
        </p:spPr>
        <p:txBody>
          <a:bodyPr wrap="square">
            <a:spAutoFit/>
          </a:bodyPr>
          <a:lstStyle/>
          <a:p>
            <a:pPr algn="ctr">
              <a:spcAft>
                <a:spcPts val="2000"/>
              </a:spcAft>
              <a:defRPr sz="1400">
                <a:solidFill>
                  <a:srgbClr val="94A3B8"/>
                </a:solidFill>
                <a:latin typeface="Outfit"/>
              </a:defRPr>
            </a:pPr>
            <a:r>
              <a:t>WAPE PERFORMANCE COMPARISON</a:t>
            </a:r>
          </a:p>
          <a:p>
            <a:pPr algn="ctr">
              <a:defRPr sz="7200" b="1">
                <a:solidFill>
                  <a:srgbClr val="34D399"/>
                </a:solidFill>
                <a:latin typeface="Outfit"/>
              </a:defRPr>
            </a:pPr>
            <a:r>
              <a:t>9.86%</a:t>
            </a:r>
          </a:p>
          <a:p>
            <a:pPr algn="ctr">
              <a:spcAft>
                <a:spcPts val="2000"/>
              </a:spcAft>
              <a:defRPr sz="1600">
                <a:solidFill>
                  <a:srgbClr val="F1F5F9"/>
                </a:solidFill>
                <a:latin typeface="Outfit"/>
              </a:defRPr>
            </a:pPr>
            <a:r>
              <a:t>ML Random Forest WAPE</a:t>
            </a:r>
          </a:p>
          <a:p>
            <a:pPr algn="ctr">
              <a:defRPr sz="1600">
                <a:solidFill>
                  <a:srgbClr val="F87171"/>
                </a:solidFill>
                <a:latin typeface="Outfit"/>
              </a:defRPr>
            </a:pPr>
            <a:r>
              <a:t>Baseline Seasonal-Naive WAPE: 23.46%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Interactive Inventory Intelligence</a:t>
            </a:r>
          </a:p>
        </p:txBody>
      </p:sp>
      <p:sp>
        <p:nvSpPr>
          <p:cNvPr id="3" name="TextBox 2"/>
          <p:cNvSpPr txBox="1"/>
          <p:nvPr/>
        </p:nvSpPr>
        <p:spPr>
          <a:xfrm>
            <a:off x="685800" y="1645920"/>
            <a:ext cx="10817352" cy="4389120"/>
          </a:xfrm>
          <a:prstGeom prst="rect">
            <a:avLst/>
          </a:prstGeom>
          <a:noFill/>
        </p:spPr>
        <p:txBody>
          <a:bodyPr wrap="square">
            <a:spAutoFit/>
          </a:bodyPr>
          <a:lstStyle/>
          <a:p>
            <a:pPr>
              <a:spcAft>
                <a:spcPts val="1600"/>
              </a:spcAft>
              <a:defRPr sz="1600" b="1">
                <a:solidFill>
                  <a:srgbClr val="818CF8"/>
                </a:solidFill>
                <a:latin typeface="Outfit"/>
              </a:defRPr>
            </a:pPr>
            <a:r>
              <a:t>Executive Board: </a:t>
            </a:r>
            <a:r>
              <a:rPr sz="1500">
                <a:solidFill>
                  <a:srgbClr val="F1F5F9"/>
                </a:solidFill>
                <a:latin typeface="Outfit"/>
              </a:rPr>
              <a:t>Displays a dynamic scatter grid of stockout vs. overstock risk, with bubble sizes representing Rupees at risk.</a:t>
            </a:r>
          </a:p>
          <a:p>
            <a:pPr>
              <a:spcAft>
                <a:spcPts val="1600"/>
              </a:spcAft>
              <a:defRPr sz="1600" b="1">
                <a:solidFill>
                  <a:srgbClr val="818CF8"/>
                </a:solidFill>
                <a:latin typeface="Outfit"/>
              </a:defRPr>
            </a:pPr>
            <a:r>
              <a:t>Prioritized Action Tables: </a:t>
            </a:r>
            <a:r>
              <a:rPr sz="1500">
                <a:solidFill>
                  <a:srgbClr val="F1F5F9"/>
                </a:solidFill>
                <a:latin typeface="Outfit"/>
              </a:rPr>
              <a:t>Instantly filters and displays top items requiring immediate reorders or promotional discounts.</a:t>
            </a:r>
          </a:p>
          <a:p>
            <a:pPr>
              <a:spcAft>
                <a:spcPts val="1600"/>
              </a:spcAft>
              <a:defRPr sz="1600" b="1">
                <a:solidFill>
                  <a:srgbClr val="818CF8"/>
                </a:solidFill>
                <a:latin typeface="Outfit"/>
              </a:defRPr>
            </a:pPr>
            <a:r>
              <a:t>SKU deep dive panel: </a:t>
            </a:r>
            <a:r>
              <a:rPr sz="1500">
                <a:solidFill>
                  <a:srgbClr val="F1F5F9"/>
                </a:solidFill>
                <a:latin typeface="Outfit"/>
              </a:rPr>
              <a:t>Visualizes historical weekly sales alongside future demand projections and 80% confidence bands.</a:t>
            </a:r>
          </a:p>
          <a:p>
            <a:pPr>
              <a:spcAft>
                <a:spcPts val="1600"/>
              </a:spcAft>
              <a:defRPr sz="1600" b="1">
                <a:solidFill>
                  <a:srgbClr val="818CF8"/>
                </a:solidFill>
                <a:latin typeface="Outfit"/>
              </a:defRPr>
            </a:pPr>
            <a:r>
              <a:t>Performant Architecture: </a:t>
            </a:r>
            <a:r>
              <a:rPr sz="1500">
                <a:solidFill>
                  <a:srgbClr val="F1F5F9"/>
                </a:solidFill>
                <a:latin typeface="Outfit"/>
              </a:rPr>
              <a:t>Service layer leverages Streamlit caching (@st.cache_data) and clean pre-aggregated CSVs to load dashboard metrics instantly.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Delivering Concrete Value</a:t>
            </a:r>
          </a:p>
        </p:txBody>
      </p:sp>
      <p:sp>
        <p:nvSpPr>
          <p:cNvPr id="3" name="TextBox 2"/>
          <p:cNvSpPr txBox="1"/>
          <p:nvPr/>
        </p:nvSpPr>
        <p:spPr>
          <a:xfrm>
            <a:off x="685800" y="2011680"/>
            <a:ext cx="3291840" cy="3657600"/>
          </a:xfrm>
          <a:prstGeom prst="rect">
            <a:avLst/>
          </a:prstGeom>
          <a:noFill/>
        </p:spPr>
        <p:txBody>
          <a:bodyPr wrap="square">
            <a:spAutoFit/>
          </a:bodyPr>
          <a:lstStyle/>
          <a:p>
            <a:pPr>
              <a:spcAft>
                <a:spcPts val="1400"/>
              </a:spcAft>
              <a:defRPr sz="2000" b="1">
                <a:solidFill>
                  <a:srgbClr val="F87171"/>
                </a:solidFill>
                <a:latin typeface="Outfit"/>
              </a:defRPr>
            </a:pPr>
            <a:r>
              <a:t>🛡️ Revenue Protection</a:t>
            </a:r>
          </a:p>
          <a:p>
            <a:pPr>
              <a:lnSpc>
                <a:spcPct val="120000"/>
              </a:lnSpc>
              <a:defRPr sz="1500">
                <a:solidFill>
                  <a:srgbClr val="F1F5F9"/>
                </a:solidFill>
                <a:latin typeface="Outfit"/>
              </a:defRPr>
            </a:pPr>
            <a:r>
              <a:t>Prevents lost sales of bestsellers by triggering replenishment alerts before stock drops below safety thresholds.</a:t>
            </a:r>
          </a:p>
        </p:txBody>
      </p:sp>
      <p:sp>
        <p:nvSpPr>
          <p:cNvPr id="4" name="TextBox 3"/>
          <p:cNvSpPr txBox="1"/>
          <p:nvPr/>
        </p:nvSpPr>
        <p:spPr>
          <a:xfrm>
            <a:off x="4462272" y="2011680"/>
            <a:ext cx="3291840" cy="3657600"/>
          </a:xfrm>
          <a:prstGeom prst="rect">
            <a:avLst/>
          </a:prstGeom>
          <a:noFill/>
        </p:spPr>
        <p:txBody>
          <a:bodyPr wrap="square">
            <a:spAutoFit/>
          </a:bodyPr>
          <a:lstStyle/>
          <a:p>
            <a:pPr>
              <a:spcAft>
                <a:spcPts val="1400"/>
              </a:spcAft>
              <a:defRPr sz="2000" b="1">
                <a:solidFill>
                  <a:srgbClr val="FBBF24"/>
                </a:solidFill>
                <a:latin typeface="Outfit"/>
              </a:defRPr>
            </a:pPr>
            <a:r>
              <a:t>⚡ Working Capital Efficiency</a:t>
            </a:r>
          </a:p>
          <a:p>
            <a:pPr>
              <a:lnSpc>
                <a:spcPct val="120000"/>
              </a:lnSpc>
              <a:defRPr sz="1500">
                <a:solidFill>
                  <a:srgbClr val="F1F5F9"/>
                </a:solidFill>
                <a:latin typeface="Outfit"/>
              </a:defRPr>
            </a:pPr>
            <a:r>
              <a:t>Identifies overstocks early, suggesting clearance promotions to free up tied-up capital and reduce warehouse fees.</a:t>
            </a:r>
          </a:p>
        </p:txBody>
      </p:sp>
      <p:sp>
        <p:nvSpPr>
          <p:cNvPr id="5" name="TextBox 4"/>
          <p:cNvSpPr txBox="1"/>
          <p:nvPr/>
        </p:nvSpPr>
        <p:spPr>
          <a:xfrm>
            <a:off x="8229600" y="2011680"/>
            <a:ext cx="3291840" cy="3657600"/>
          </a:xfrm>
          <a:prstGeom prst="rect">
            <a:avLst/>
          </a:prstGeom>
          <a:noFill/>
        </p:spPr>
        <p:txBody>
          <a:bodyPr wrap="square">
            <a:spAutoFit/>
          </a:bodyPr>
          <a:lstStyle/>
          <a:p>
            <a:pPr>
              <a:spcAft>
                <a:spcPts val="1400"/>
              </a:spcAft>
              <a:defRPr sz="2000" b="1">
                <a:solidFill>
                  <a:srgbClr val="34D399"/>
                </a:solidFill>
                <a:latin typeface="Outfit"/>
              </a:defRPr>
            </a:pPr>
            <a:r>
              <a:t>⚙️ Operational Scaling</a:t>
            </a:r>
          </a:p>
          <a:p>
            <a:pPr>
              <a:lnSpc>
                <a:spcPct val="120000"/>
              </a:lnSpc>
              <a:defRPr sz="1500">
                <a:solidFill>
                  <a:srgbClr val="F1F5F9"/>
                </a:solidFill>
                <a:latin typeface="Outfit"/>
              </a:defRPr>
            </a:pPr>
            <a:r>
              <a:t>Replaces manual spreadsheets and guess-work with automated, prioritized reorder recommendations.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lIns="0" tIns="0" rIns="0" bIns="0">
            <a:spAutoFit/>
          </a:bodyPr>
          <a:lstStyle/>
          <a:p>
            <a:pPr>
              <a:defRPr sz="3200" b="1">
                <a:solidFill>
                  <a:srgbClr val="818CF8"/>
                </a:solidFill>
                <a:latin typeface="Outfit"/>
              </a:defRPr>
            </a:pPr>
            <a:r>
              <a:t>Looking Ahead: Roadmap &amp; Next Steps</a:t>
            </a:r>
          </a:p>
        </p:txBody>
      </p:sp>
      <p:sp>
        <p:nvSpPr>
          <p:cNvPr id="3" name="TextBox 2"/>
          <p:cNvSpPr txBox="1"/>
          <p:nvPr/>
        </p:nvSpPr>
        <p:spPr>
          <a:xfrm>
            <a:off x="685800" y="1645920"/>
            <a:ext cx="10817352" cy="4389120"/>
          </a:xfrm>
          <a:prstGeom prst="rect">
            <a:avLst/>
          </a:prstGeom>
          <a:noFill/>
        </p:spPr>
        <p:txBody>
          <a:bodyPr wrap="square">
            <a:spAutoFit/>
          </a:bodyPr>
          <a:lstStyle/>
          <a:p>
            <a:pPr>
              <a:spcAft>
                <a:spcPts val="1600"/>
              </a:spcAft>
              <a:defRPr sz="1600" b="1">
                <a:solidFill>
                  <a:srgbClr val="818CF8"/>
                </a:solidFill>
                <a:latin typeface="Outfit"/>
              </a:defRPr>
            </a:pPr>
            <a:r>
              <a:t>Phase 1: Cold Start Optimization: </a:t>
            </a:r>
            <a:r>
              <a:rPr sz="1500">
                <a:solidFill>
                  <a:srgbClr val="F1F5F9"/>
                </a:solidFill>
                <a:latin typeface="Outfit"/>
              </a:rPr>
              <a:t>Develop category-level and subcategory-level models to improve forecasts for newly launched SKUs with less than 28 days of history.</a:t>
            </a:r>
          </a:p>
          <a:p>
            <a:pPr>
              <a:spcAft>
                <a:spcPts val="1600"/>
              </a:spcAft>
              <a:defRPr sz="1600" b="1">
                <a:solidFill>
                  <a:srgbClr val="818CF8"/>
                </a:solidFill>
                <a:latin typeface="Outfit"/>
              </a:defRPr>
            </a:pPr>
            <a:r>
              <a:t>Phase 2: Dynamic Logistics Integration: </a:t>
            </a:r>
            <a:r>
              <a:rPr sz="1500">
                <a:solidFill>
                  <a:srgbClr val="F1F5F9"/>
                </a:solidFill>
                <a:latin typeface="Outfit"/>
              </a:rPr>
              <a:t>Connect carrier tracking APIs and customs timelines directly to the dashboard to update lead times in real-time.</a:t>
            </a:r>
          </a:p>
          <a:p>
            <a:pPr>
              <a:spcAft>
                <a:spcPts val="1600"/>
              </a:spcAft>
              <a:defRPr sz="1600" b="1">
                <a:solidFill>
                  <a:srgbClr val="818CF8"/>
                </a:solidFill>
                <a:latin typeface="Outfit"/>
              </a:defRPr>
            </a:pPr>
            <a:r>
              <a:t>Phase 3: Interactive Promotion Planners: </a:t>
            </a:r>
            <a:r>
              <a:rPr sz="1500">
                <a:solidFill>
                  <a:srgbClr val="F1F5F9"/>
                </a:solidFill>
                <a:latin typeface="Outfit"/>
              </a:rPr>
              <a:t>Create UI inputs allowing planners to directly specify marketing schedules and see corresponding demand forecast spikes.</a:t>
            </a:r>
          </a:p>
          <a:p>
            <a:pPr>
              <a:spcAft>
                <a:spcPts val="1600"/>
              </a:spcAft>
              <a:defRPr sz="1600" b="1">
                <a:solidFill>
                  <a:srgbClr val="818CF8"/>
                </a:solidFill>
                <a:latin typeface="Outfit"/>
              </a:defRPr>
            </a:pPr>
            <a:r>
              <a:t>Phase 4: Sequence Deep Learning: </a:t>
            </a:r>
            <a:r>
              <a:rPr sz="1500">
                <a:solidFill>
                  <a:srgbClr val="F1F5F9"/>
                </a:solidFill>
                <a:latin typeface="Outfit"/>
              </a:rPr>
              <a:t>Evaluate neural network models (e.g. Temporal Fusion Transformers) to better model intermittent and sparse demand patterns.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